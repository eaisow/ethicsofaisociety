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2"/>
  </p:notesMasterIdLst>
  <p:sldIdLst>
    <p:sldId id="306" r:id="rId4"/>
    <p:sldId id="257" r:id="rId5"/>
    <p:sldId id="258" r:id="rId6"/>
    <p:sldId id="259" r:id="rId7"/>
    <p:sldId id="262" r:id="rId8"/>
    <p:sldId id="307" r:id="rId9"/>
    <p:sldId id="30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623"/>
    <a:srgbClr val="47380D"/>
    <a:srgbClr val="7F6417"/>
    <a:srgbClr val="8E701A"/>
    <a:srgbClr val="4D2B0F"/>
    <a:srgbClr val="9D581F"/>
    <a:srgbClr val="D67C32"/>
    <a:srgbClr val="32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CFB41-8766-47FC-B8AF-99E306C6EE6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6468D-4AD3-4854-91B3-6C2E46E12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02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B8FC-00FD-BC70-259E-404A3ECB2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CC759-6D68-1168-5197-19F838A59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973A-BB99-F950-E463-51CFC650D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0B4B1-776D-FDCD-644D-E8C57EC8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EDC5A-3B92-8C41-88AE-362032B3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0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4777-DF22-A153-EFC8-063B0DD3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C280E-B3B2-CE6E-0D85-E9D99B97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4C749-EF27-A50E-2BBF-9E41CFD9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D7CAF-F2B5-04FE-FCDC-98AF5094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16148-0DD3-210E-9CEC-2D99C5A0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5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5E10-5FB7-26C2-7899-B060526B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1A82-540D-81AD-54F0-38B3CD891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FF04-6208-6861-D11D-7D039B09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9FA5-F938-B9F7-23E2-CBF2A869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88861-4FF8-A573-4AE0-1A51275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0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779C-34F4-92B6-7AAC-FE2CE34A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423A-6D1B-E4D7-F5BF-D5ADBA0F0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06EC4-9E46-35FC-6A6B-83822E958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4D75F-3C54-4CCC-81E1-EEF9E4D3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A3B46-B752-4023-D510-3A1259E4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68A0C-7A7B-B9EE-C6C7-C4A9F447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5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1534-9B63-39B9-4252-1D3A1513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1896B-E002-4439-3907-0CD18650A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9D76A-2C1D-FEB6-25D6-D8EB36819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9A7F-54E0-F9A4-F400-E036DBEB5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987CAA-241D-7EDA-70FC-671C5C395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54F75-3113-5A90-35F6-51B9E65DA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36CAE-B123-54BD-78B9-BD2EF708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EFB4F-9A80-3FF6-4F4F-CAF69F66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39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3165-85F5-3F56-CFC7-84177639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46264-6A20-5659-0503-06072F07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3532D-3083-435B-241F-4B80104E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327A5-B6B4-3D4C-2BB7-C6CB22E7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7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22433-4C5E-CF4B-BBDD-CDC68073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BE10B-436A-7A1C-731C-D4B3AE0D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0E15C-76FD-1674-C609-97AECB16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0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2F57-E37C-60E2-D295-0FF479C0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D0FB4-476D-D89E-5F2A-760C93834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670E4-0E6A-F79A-4290-A82836F59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0AA9E-B367-61EA-1556-3CCC1D0C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F8266-5B81-DD40-B140-06D64EC4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28C81-3C56-E2AA-FEFC-487F365E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1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12AF-EB3D-26F2-796C-66031AC8E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DE3CA2-4E36-DDCB-64DA-4851C2680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77D9C-C706-AAAA-C08D-94856681E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25EE1-0D9A-4F02-1E56-EAFFDB6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99EE5-D40B-A0B7-2F20-25664A8E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73BD7-1867-0028-F34B-5CAF28EC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D189-79FE-C9A2-3975-1F5B5636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3FC28-EF61-F9E7-C53C-9518F190E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CCABA-D1D8-A0E5-3B11-92213AD6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3B1AE-7B14-2324-F672-CCB0CECE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F403-C722-A807-B331-0A01CBAE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2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F5C8B-7DFA-BF2A-EC76-EEC5024EB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AA0F9-9898-617B-005B-38A9EA66A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17D6F-B567-3288-BB19-36376A90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DA8B0-793B-3D4D-B218-70E66B24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2C498-B37E-C33A-C55E-41F352D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34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7B51-EBB1-447F-A83E-EFBA526E9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2E0A6-C7D7-47DB-BEB6-8776B9776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3C9D-A2D6-445C-9308-0FF463BD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2F07-5D90-45A5-BAF9-24D8A61D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0399D-BB8A-4B26-9ED5-182D1CCD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A1F7-8772-4385-B6FC-04118222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1C6A-B850-48B5-B5B3-A404F2273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87A8-1DF8-4BAF-8EC0-D1474829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2CC4D-3A6B-4754-9E92-0B6008010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A0B5-284F-40A9-8CE0-E1AE4DA1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8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C3D9-061C-478B-961E-E8BBA7B90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E371C-D5F5-47E4-BA6A-38137477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00CFD-3623-4BF1-9590-9CD311F4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BA4EB-B302-44FF-862F-98BA6883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2AC32-E445-4AB5-94C4-945B0DEE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06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CC1F-229E-43E3-B5EC-36014205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85CD7-EE24-4C58-8FDB-E0FEB9B64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C2BA6-B9A0-4C70-B689-D08732A3C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11FEA-BE14-4742-BBF4-A8A305A2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92AA0-F922-4614-A051-FD48EBB4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17E87-0BBE-4271-88B0-B566E991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19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A850-9A89-47B1-BCF0-38983F3A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D8296-7F00-448B-A5D8-7B75CFE3F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E728D-80F2-499D-B557-CC6C15725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4D6DB-6CCC-484E-A2E9-C55AC28A6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03283-80F4-4ED1-8CFE-E3F31F856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62AD3-6DD9-454F-8D43-14FF46B4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C8D6A-B1D3-41C2-B58F-C689A2EF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FA9DD-4032-4F71-AF36-60916C90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48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3F86-DA83-4321-BACA-4D204D7D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7627A-D81E-46BD-B896-6F78C6DF3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2C7DA-8DA4-4433-9714-29355E05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3CD2F-ABA2-4BA4-B221-D43C09F8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71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54B284-DDD8-4281-81ED-5A4C1579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602E8-9FE5-4F76-AFAF-CC04C7BD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A42CE-C3D3-4708-BDF3-F1A7606C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6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1F95-A9C1-4570-BC09-B220B9CD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05F5E-76F0-45F6-AC36-99E1EFE0A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13DCC-1164-4728-A8ED-1AE7C4ED0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E0FAE-DEBF-4EDD-A58B-9466F39E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B9A3C-04B0-4FDD-B5D7-D31E460B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E68AF-4569-425F-9293-FDFC374D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1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7A86-3FD9-460F-BF5A-B4444E83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49250-7136-47DE-B99D-52997232F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A0CF2-D246-45EC-9C3F-E6FFE03FF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332D3-7181-4267-B20B-BF37CB54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AB8A8-1F90-4A42-A11E-D3C812C6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3BCE6-A7D5-451D-BE77-EB66FCEB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84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BD37-4719-4967-9C73-02F8C00D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71B6C-D10D-435B-BCDE-EA26A71C4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C91E-1995-4ED6-B66E-87EAEFEB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FBB4D-50C9-4A38-A231-4F0AB750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29B8F-122E-4C42-9AD8-E87FEB82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31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307FE0-1ABB-4D0E-807F-DC0CED861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7A9FD-28AC-4D2F-BA5C-BE0544945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FBF96-0BC2-43ED-8D44-C3E3B0C8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D9748-DCD3-467C-9974-73C95F75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C6B8-9F7F-42B4-8358-A0C02249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74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91249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30359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0616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28786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73918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4385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70401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78342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2177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1448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717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0D2D7-A89F-DCCF-E57B-39212584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53374-4532-826D-FF5E-DC825BA8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0CA75-452D-019A-6370-F9465C57A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CEC-B10B-42FD-8C91-433EC5DD617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F165E-F155-0B2A-2507-9850013B0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C146F-6705-FE92-9AF3-B6CCB62AC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78931-140D-4774-8AFA-1110874C0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7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8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0E349C-D4E3-4DD4-B11F-37FA5100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A9D51-8650-4B02-B699-57E7AA693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F7649-3559-41B8-A4DC-5B54A948F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BE9BD-F796-4E98-B88C-E4415F5E4F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0FC8-341D-4E01-BAA1-8BE3903EA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13CAB-D8D5-4693-8B3F-669EA40ED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8F304-8B74-4BB5-9369-51AD3AF3C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5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36307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FCAF6D-66A5-48EE-9720-1F9F8939E89D}"/>
              </a:ext>
            </a:extLst>
          </p:cNvPr>
          <p:cNvSpPr txBox="1"/>
          <p:nvPr/>
        </p:nvSpPr>
        <p:spPr>
          <a:xfrm>
            <a:off x="602608" y="4464101"/>
            <a:ext cx="58189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Matthew Silk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Ian MacDonald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Cover to An Inquirer's Guide to Ethics in AI by Matthew Silk and Ian MacDonald">
            <a:extLst>
              <a:ext uri="{FF2B5EF4-FFF2-40B4-BE49-F238E27FC236}">
                <a16:creationId xmlns:a16="http://schemas.microsoft.com/office/drawing/2014/main" id="{E10AB0E3-017F-C4BF-D617-65A56BE79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35166"/>
            <a:ext cx="2695574" cy="404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94EF2B-0B13-39BA-2A6D-61068C15C18C}"/>
              </a:ext>
            </a:extLst>
          </p:cNvPr>
          <p:cNvSpPr txBox="1"/>
          <p:nvPr/>
        </p:nvSpPr>
        <p:spPr>
          <a:xfrm>
            <a:off x="602608" y="582066"/>
            <a:ext cx="52823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Stakeholder-Relevant Approach to AI Literacy</a:t>
            </a:r>
          </a:p>
        </p:txBody>
      </p:sp>
      <p:pic>
        <p:nvPicPr>
          <p:cNvPr id="5" name="Picture 4" descr="Ethics of AI Society website QR">
            <a:extLst>
              <a:ext uri="{FF2B5EF4-FFF2-40B4-BE49-F238E27FC236}">
                <a16:creationId xmlns:a16="http://schemas.microsoft.com/office/drawing/2014/main" id="{3574AE8A-8D56-9BAF-5407-67B8EFDBB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558" y="3349676"/>
            <a:ext cx="2228850" cy="2228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3B1A4-4A3D-FF9F-BE84-7431DEEDE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322" y="1092570"/>
            <a:ext cx="2523856" cy="2257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A8B9FA-70B4-3C06-4116-ED57E0631594}"/>
              </a:ext>
            </a:extLst>
          </p:cNvPr>
          <p:cNvSpPr txBox="1"/>
          <p:nvPr/>
        </p:nvSpPr>
        <p:spPr>
          <a:xfrm>
            <a:off x="8554796" y="1018375"/>
            <a:ext cx="303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Join the Ethics of AI Society!</a:t>
            </a:r>
          </a:p>
        </p:txBody>
      </p:sp>
    </p:spTree>
    <p:extLst>
      <p:ext uri="{BB962C8B-B14F-4D97-AF65-F5344CB8AC3E}">
        <p14:creationId xmlns:p14="http://schemas.microsoft.com/office/powerpoint/2010/main" val="155182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D83B5-56DA-9A71-AF62-A76A9E22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 by Matt Silk">
            <a:extLst>
              <a:ext uri="{FF2B5EF4-FFF2-40B4-BE49-F238E27FC236}">
                <a16:creationId xmlns:a16="http://schemas.microsoft.com/office/drawing/2014/main" id="{6B2799FF-ECBB-DE96-B8E0-773B82FD3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368" y="5859855"/>
            <a:ext cx="946115" cy="8461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CD5000-8CD1-7E15-7167-1DB51258B583}"/>
              </a:ext>
            </a:extLst>
          </p:cNvPr>
          <p:cNvSpPr txBox="1"/>
          <p:nvPr/>
        </p:nvSpPr>
        <p:spPr>
          <a:xfrm>
            <a:off x="333628" y="351451"/>
            <a:ext cx="9257145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AI Literacy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B8866-0CB0-EF86-1C5B-B0EDF4DA02E7}"/>
              </a:ext>
            </a:extLst>
          </p:cNvPr>
          <p:cNvSpPr txBox="1"/>
          <p:nvPr/>
        </p:nvSpPr>
        <p:spPr>
          <a:xfrm>
            <a:off x="503014" y="1866020"/>
            <a:ext cx="5124063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a typeface="Calibri"/>
                <a:cs typeface="Calibri"/>
              </a:rPr>
              <a:t>AI is both </a:t>
            </a:r>
            <a:r>
              <a:rPr lang="en-US" sz="4400" dirty="0">
                <a:solidFill>
                  <a:srgbClr val="FFC000"/>
                </a:solidFill>
                <a:ea typeface="Calibri"/>
                <a:cs typeface="Calibri"/>
              </a:rPr>
              <a:t>a tool for accomplishing tasks</a:t>
            </a:r>
            <a:r>
              <a:rPr lang="en-US" sz="4400" dirty="0">
                <a:solidFill>
                  <a:schemeClr val="bg1"/>
                </a:solidFill>
                <a:ea typeface="Calibri"/>
                <a:cs typeface="Calibri"/>
              </a:rPr>
              <a:t> and </a:t>
            </a:r>
            <a:r>
              <a:rPr lang="en-US" sz="4400" dirty="0">
                <a:solidFill>
                  <a:schemeClr val="accent6"/>
                </a:solidFill>
                <a:ea typeface="Calibri"/>
                <a:cs typeface="Calibri"/>
              </a:rPr>
              <a:t>a source of information</a:t>
            </a:r>
            <a:r>
              <a:rPr lang="en-US" sz="4400" dirty="0">
                <a:solidFill>
                  <a:schemeClr val="bg1"/>
                </a:solidFill>
                <a:ea typeface="Calibri"/>
                <a:cs typeface="Calibri"/>
              </a:rPr>
              <a:t>. We need to be literate in both respects</a:t>
            </a:r>
            <a:r>
              <a:rPr lang="en-US" sz="3600" dirty="0">
                <a:solidFill>
                  <a:schemeClr val="bg1"/>
                </a:solidFill>
                <a:ea typeface="Calibri"/>
                <a:cs typeface="Calibri"/>
              </a:rPr>
              <a:t>. </a:t>
            </a:r>
            <a:endParaRPr lang="en-US" sz="32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91312-746C-BFB3-FA1E-23C887E449DB}"/>
              </a:ext>
            </a:extLst>
          </p:cNvPr>
          <p:cNvSpPr txBox="1"/>
          <p:nvPr/>
        </p:nvSpPr>
        <p:spPr>
          <a:xfrm>
            <a:off x="291862" y="1128719"/>
            <a:ext cx="10906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ability to understand, evaluate, and responsibly use AI as tool.</a:t>
            </a:r>
            <a:endParaRPr lang="en-US" sz="28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Rectangle 2" descr="Students, Educators, and Administrators have their own interests and values when it comes to defining an AI literate person.">
            <a:extLst>
              <a:ext uri="{FF2B5EF4-FFF2-40B4-BE49-F238E27FC236}">
                <a16:creationId xmlns:a16="http://schemas.microsoft.com/office/drawing/2014/main" id="{FBE0BA66-3F0E-5F48-98F4-39E776D7EBAC}"/>
              </a:ext>
            </a:extLst>
          </p:cNvPr>
          <p:cNvSpPr/>
          <p:nvPr/>
        </p:nvSpPr>
        <p:spPr>
          <a:xfrm>
            <a:off x="9496988" y="3299915"/>
            <a:ext cx="2309365" cy="133502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What should an AI literate person be capable of?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850454-327D-C473-EE3F-BE2DD672E706}"/>
              </a:ext>
            </a:extLst>
          </p:cNvPr>
          <p:cNvSpPr/>
          <p:nvPr/>
        </p:nvSpPr>
        <p:spPr>
          <a:xfrm>
            <a:off x="6283885" y="2052049"/>
            <a:ext cx="2020824" cy="740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7DCB1D-7874-6F32-771A-304ECBFE282F}"/>
              </a:ext>
            </a:extLst>
          </p:cNvPr>
          <p:cNvSpPr/>
          <p:nvPr/>
        </p:nvSpPr>
        <p:spPr>
          <a:xfrm>
            <a:off x="6283885" y="3657332"/>
            <a:ext cx="2020824" cy="74066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Educators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005001-4FE5-7EB7-D61C-513592735579}"/>
              </a:ext>
            </a:extLst>
          </p:cNvPr>
          <p:cNvSpPr/>
          <p:nvPr/>
        </p:nvSpPr>
        <p:spPr>
          <a:xfrm>
            <a:off x="6283885" y="5066464"/>
            <a:ext cx="2020824" cy="7406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Administrators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C382F3-52D5-048C-DA2F-8E866AEE3B51}"/>
              </a:ext>
            </a:extLst>
          </p:cNvPr>
          <p:cNvCxnSpPr>
            <a:cxnSpLocks/>
          </p:cNvCxnSpPr>
          <p:nvPr/>
        </p:nvCxnSpPr>
        <p:spPr>
          <a:xfrm>
            <a:off x="8393724" y="2836954"/>
            <a:ext cx="1016889" cy="469380"/>
          </a:xfrm>
          <a:prstGeom prst="straightConnector1">
            <a:avLst/>
          </a:prstGeom>
          <a:ln w="155575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F3ED72-2337-516B-C794-6E233B8108E5}"/>
              </a:ext>
            </a:extLst>
          </p:cNvPr>
          <p:cNvCxnSpPr>
            <a:cxnSpLocks/>
          </p:cNvCxnSpPr>
          <p:nvPr/>
        </p:nvCxnSpPr>
        <p:spPr>
          <a:xfrm>
            <a:off x="8449428" y="4043262"/>
            <a:ext cx="961185" cy="0"/>
          </a:xfrm>
          <a:prstGeom prst="straightConnector1">
            <a:avLst/>
          </a:prstGeom>
          <a:ln w="155575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BFAA4F-7FE6-B5A6-35FF-521C1EDD89DE}"/>
              </a:ext>
            </a:extLst>
          </p:cNvPr>
          <p:cNvCxnSpPr>
            <a:cxnSpLocks/>
          </p:cNvCxnSpPr>
          <p:nvPr/>
        </p:nvCxnSpPr>
        <p:spPr>
          <a:xfrm flipV="1">
            <a:off x="8404228" y="4768869"/>
            <a:ext cx="1006385" cy="667927"/>
          </a:xfrm>
          <a:prstGeom prst="straightConnector1">
            <a:avLst/>
          </a:prstGeom>
          <a:ln w="155575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00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0C01E-7E12-DA7C-DB06-83848AE1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D87365-F8B6-D762-D8E9-7105FD642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090" y="5276423"/>
            <a:ext cx="1522557" cy="13616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1240C4-B5B4-A824-E938-93DA88CD49CF}"/>
              </a:ext>
            </a:extLst>
          </p:cNvPr>
          <p:cNvSpPr txBox="1"/>
          <p:nvPr/>
        </p:nvSpPr>
        <p:spPr>
          <a:xfrm>
            <a:off x="343233" y="295727"/>
            <a:ext cx="95744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Stakeholders: Who values what?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6EAF37-6387-A9AD-934A-4565494CC38E}"/>
              </a:ext>
            </a:extLst>
          </p:cNvPr>
          <p:cNvSpPr/>
          <p:nvPr/>
        </p:nvSpPr>
        <p:spPr>
          <a:xfrm>
            <a:off x="461818" y="4274227"/>
            <a:ext cx="3537528" cy="236383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Concerns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and time savings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to probe/question freely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Accuracy/reliability of results</a:t>
            </a:r>
          </a:p>
          <a:p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83C296-3CA3-741D-CB4F-13D16E508AB3}"/>
              </a:ext>
            </a:extLst>
          </p:cNvPr>
          <p:cNvSpPr/>
          <p:nvPr/>
        </p:nvSpPr>
        <p:spPr>
          <a:xfrm>
            <a:off x="974436" y="1303682"/>
            <a:ext cx="2512291" cy="472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Students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98F0C7-73B0-86A3-F898-5654FE60A0E5}"/>
              </a:ext>
            </a:extLst>
          </p:cNvPr>
          <p:cNvSpPr/>
          <p:nvPr/>
        </p:nvSpPr>
        <p:spPr>
          <a:xfrm>
            <a:off x="471054" y="1776369"/>
            <a:ext cx="3537528" cy="2592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Values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and time savings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to probe/question freely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Fairness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Accuracy/reliability of results</a:t>
            </a:r>
          </a:p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5B7141-DB2B-8134-B2DA-53D9303FDB22}"/>
              </a:ext>
            </a:extLst>
          </p:cNvPr>
          <p:cNvSpPr/>
          <p:nvPr/>
        </p:nvSpPr>
        <p:spPr>
          <a:xfrm>
            <a:off x="4317278" y="4274227"/>
            <a:ext cx="3671453" cy="2363832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Concerns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Fairness (if AI used for grading)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Being overly restrictive/permissive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Unverifiable claims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False positive accusations</a:t>
            </a:r>
          </a:p>
          <a:p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10672D-E864-A94F-F558-4AF4B980AFEC}"/>
              </a:ext>
            </a:extLst>
          </p:cNvPr>
          <p:cNvSpPr/>
          <p:nvPr/>
        </p:nvSpPr>
        <p:spPr>
          <a:xfrm>
            <a:off x="4737532" y="1303683"/>
            <a:ext cx="2821710" cy="47268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Educators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554BCA-0740-82AD-A37C-98E22AB228AD}"/>
              </a:ext>
            </a:extLst>
          </p:cNvPr>
          <p:cNvSpPr/>
          <p:nvPr/>
        </p:nvSpPr>
        <p:spPr>
          <a:xfrm>
            <a:off x="4317278" y="1776368"/>
            <a:ext cx="3671453" cy="259243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Values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Efficiency and time savings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AI assistance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Verify learning achievement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Fairness/ transparency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Relative control of AI in classroom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AI Options</a:t>
            </a:r>
          </a:p>
        </p:txBody>
      </p:sp>
      <p:sp>
        <p:nvSpPr>
          <p:cNvPr id="16" name="Rectangle: Rounded Corners 15" descr="Slide by Matt Silk">
            <a:extLst>
              <a:ext uri="{FF2B5EF4-FFF2-40B4-BE49-F238E27FC236}">
                <a16:creationId xmlns:a16="http://schemas.microsoft.com/office/drawing/2014/main" id="{B07A43E2-83EC-9AE4-23F0-2E69B34589A6}"/>
              </a:ext>
            </a:extLst>
          </p:cNvPr>
          <p:cNvSpPr/>
          <p:nvPr/>
        </p:nvSpPr>
        <p:spPr>
          <a:xfrm>
            <a:off x="8272891" y="4274227"/>
            <a:ext cx="3671453" cy="2363832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Concerns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Misapprehension/ misunderstandings of use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Unverifiable claims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False positive accusations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Fairness of AI used for administration</a:t>
            </a:r>
          </a:p>
          <a:p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8D5243-8492-9CC3-E753-8C0093EC8A2F}"/>
              </a:ext>
            </a:extLst>
          </p:cNvPr>
          <p:cNvSpPr/>
          <p:nvPr/>
        </p:nvSpPr>
        <p:spPr>
          <a:xfrm>
            <a:off x="8717682" y="1303683"/>
            <a:ext cx="2821710" cy="47268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Administrators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3EF962B-E93D-9727-D575-A0FC08AAFEAA}"/>
              </a:ext>
            </a:extLst>
          </p:cNvPr>
          <p:cNvSpPr/>
          <p:nvPr/>
        </p:nvSpPr>
        <p:spPr>
          <a:xfrm>
            <a:off x="8297428" y="1776368"/>
            <a:ext cx="3662219" cy="259243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Value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Efficiency and time savings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Academic integrity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Innovation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Detecting AI-generated content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Accountability</a:t>
            </a:r>
          </a:p>
        </p:txBody>
      </p:sp>
    </p:spTree>
    <p:extLst>
      <p:ext uri="{BB962C8B-B14F-4D97-AF65-F5344CB8AC3E}">
        <p14:creationId xmlns:p14="http://schemas.microsoft.com/office/powerpoint/2010/main" val="39539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/>
        </p:nvSpPr>
        <p:spPr>
          <a:xfrm>
            <a:off x="297052" y="305269"/>
            <a:ext cx="925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Misalignment Problem</a:t>
            </a:r>
            <a:endParaRPr kumimoji="0" sz="6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397424" y="1472775"/>
            <a:ext cx="6697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Scenario: Student Uses AI on essay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2" name="Google Shape;202;p7" descr="Slide by Ian MacDona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5896" y="5952300"/>
            <a:ext cx="946115" cy="84611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666075" y="2057763"/>
            <a:ext cx="5359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Different legitimate priorities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6666075" y="2804425"/>
            <a:ext cx="5359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 AI Literacy framework should be: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Char char="■"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Aware of stakeholder values 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0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Char char="■"/>
              <a:tabLst/>
              <a:defRPr/>
            </a:pPr>
            <a:r>
              <a: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Informed about value conflicts 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oogle Shape;203;p7">
            <a:extLst>
              <a:ext uri="{FF2B5EF4-FFF2-40B4-BE49-F238E27FC236}">
                <a16:creationId xmlns:a16="http://schemas.microsoft.com/office/drawing/2014/main" id="{EBE64B9A-548E-7798-EF77-C0CA71C398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4050437"/>
              </p:ext>
            </p:extLst>
          </p:nvPr>
        </p:nvGraphicFramePr>
        <p:xfrm>
          <a:off x="397425" y="2229550"/>
          <a:ext cx="5291525" cy="24993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solidFill>
                            <a:schemeClr val="lt1"/>
                          </a:solidFill>
                        </a:rPr>
                        <a:t>Stakeholder</a:t>
                      </a:r>
                      <a:endParaRPr sz="17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solidFill>
                            <a:schemeClr val="lt1"/>
                          </a:solidFill>
                        </a:rPr>
                        <a:t>Priority</a:t>
                      </a:r>
                      <a:endParaRPr sz="17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solidFill>
                            <a:schemeClr val="accent4"/>
                          </a:solidFill>
                        </a:rPr>
                        <a:t>Student</a:t>
                      </a:r>
                      <a:endParaRPr sz="1700" b="1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chemeClr val="lt1"/>
                          </a:solidFill>
                        </a:rPr>
                        <a:t>Fairness/success</a:t>
                      </a:r>
                      <a:endParaRPr sz="17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solidFill>
                            <a:schemeClr val="accent6"/>
                          </a:solidFill>
                        </a:rPr>
                        <a:t>Instructor</a:t>
                      </a:r>
                      <a:endParaRPr sz="1700" b="1" dirty="0">
                        <a:solidFill>
                          <a:schemeClr val="accent6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chemeClr val="lt1"/>
                          </a:solidFill>
                        </a:rPr>
                        <a:t>Skill development/authorship</a:t>
                      </a:r>
                      <a:endParaRPr sz="17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dirty="0">
                          <a:solidFill>
                            <a:srgbClr val="FF9900"/>
                          </a:solidFill>
                        </a:rPr>
                        <a:t>Administration</a:t>
                      </a:r>
                      <a:endParaRPr sz="1700" b="1" dirty="0">
                        <a:solidFill>
                          <a:srgbClr val="FF9900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chemeClr val="lt1"/>
                          </a:solidFill>
                        </a:rPr>
                        <a:t>Integrity/Consistency</a:t>
                      </a:r>
                      <a:endParaRPr sz="17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83495-A599-8F2C-2C3D-20B65E49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D5A1DF-3EAA-DAF5-2C11-67B28622DE4A}"/>
              </a:ext>
            </a:extLst>
          </p:cNvPr>
          <p:cNvSpPr txBox="1"/>
          <p:nvPr/>
        </p:nvSpPr>
        <p:spPr>
          <a:xfrm>
            <a:off x="297052" y="305269"/>
            <a:ext cx="92571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has what problems?</a:t>
            </a:r>
            <a:endParaRPr lang="en-US" sz="6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6301D-A8F8-B2F5-6580-ACC64316007F}"/>
              </a:ext>
            </a:extLst>
          </p:cNvPr>
          <p:cNvSpPr txBox="1"/>
          <p:nvPr/>
        </p:nvSpPr>
        <p:spPr>
          <a:xfrm>
            <a:off x="297051" y="1359216"/>
            <a:ext cx="71822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Misunderstanding/misuse of the tool</a:t>
            </a:r>
          </a:p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Overvaluing and misuse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0012E-41EE-0416-A4BE-89AA05D9C9FE}"/>
              </a:ext>
            </a:extLst>
          </p:cNvPr>
          <p:cNvSpPr txBox="1"/>
          <p:nvPr/>
        </p:nvSpPr>
        <p:spPr>
          <a:xfrm>
            <a:off x="297051" y="2681923"/>
            <a:ext cx="66981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Epistemic health:</a:t>
            </a:r>
          </a:p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AI can be epistemically harmful to knowledge production practices.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9DF82-1BE8-172F-BAE2-0304D0B9BB39}"/>
              </a:ext>
            </a:extLst>
          </p:cNvPr>
          <p:cNvSpPr txBox="1"/>
          <p:nvPr/>
        </p:nvSpPr>
        <p:spPr>
          <a:xfrm>
            <a:off x="297052" y="4495703"/>
            <a:ext cx="70472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Mental health:</a:t>
            </a:r>
          </a:p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AI can be harmful to our mental health.</a:t>
            </a:r>
          </a:p>
        </p:txBody>
      </p:sp>
      <p:pic>
        <p:nvPicPr>
          <p:cNvPr id="6" name="Picture 5" descr="Headline about overestimating skill level">
            <a:extLst>
              <a:ext uri="{FF2B5EF4-FFF2-40B4-BE49-F238E27FC236}">
                <a16:creationId xmlns:a16="http://schemas.microsoft.com/office/drawing/2014/main" id="{3D58E30B-6840-AE93-A94C-0F47784A0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273" y="2122747"/>
            <a:ext cx="4742688" cy="1555106"/>
          </a:xfrm>
          <a:prstGeom prst="rect">
            <a:avLst/>
          </a:prstGeom>
        </p:spPr>
      </p:pic>
      <p:pic>
        <p:nvPicPr>
          <p:cNvPr id="10" name="Picture 9" descr="Headline about anthropomorphizing AI">
            <a:extLst>
              <a:ext uri="{FF2B5EF4-FFF2-40B4-BE49-F238E27FC236}">
                <a16:creationId xmlns:a16="http://schemas.microsoft.com/office/drawing/2014/main" id="{334C88AC-42A3-AA58-51B4-D90346927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273" y="1429402"/>
            <a:ext cx="4742688" cy="676006"/>
          </a:xfrm>
          <a:prstGeom prst="rect">
            <a:avLst/>
          </a:prstGeom>
        </p:spPr>
      </p:pic>
      <p:pic>
        <p:nvPicPr>
          <p:cNvPr id="5" name="Picture 4" descr="Headline about AI psychosis">
            <a:extLst>
              <a:ext uri="{FF2B5EF4-FFF2-40B4-BE49-F238E27FC236}">
                <a16:creationId xmlns:a16="http://schemas.microsoft.com/office/drawing/2014/main" id="{4E761F17-7F60-35D9-4F83-F41A4A7A3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273" y="4741186"/>
            <a:ext cx="4742688" cy="766201"/>
          </a:xfrm>
          <a:prstGeom prst="rect">
            <a:avLst/>
          </a:prstGeom>
        </p:spPr>
      </p:pic>
      <p:pic>
        <p:nvPicPr>
          <p:cNvPr id="9" name="Picture 8" descr="Headline about AI delusion">
            <a:extLst>
              <a:ext uri="{FF2B5EF4-FFF2-40B4-BE49-F238E27FC236}">
                <a16:creationId xmlns:a16="http://schemas.microsoft.com/office/drawing/2014/main" id="{C25E7490-E1F4-CA44-1DA0-2B6163E7C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273" y="3662993"/>
            <a:ext cx="4742688" cy="1089163"/>
          </a:xfrm>
          <a:prstGeom prst="rect">
            <a:avLst/>
          </a:prstGeom>
        </p:spPr>
      </p:pic>
      <p:pic>
        <p:nvPicPr>
          <p:cNvPr id="11" name="Picture 10" descr="Slide by Matt Silk">
            <a:extLst>
              <a:ext uri="{FF2B5EF4-FFF2-40B4-BE49-F238E27FC236}">
                <a16:creationId xmlns:a16="http://schemas.microsoft.com/office/drawing/2014/main" id="{832E7604-AA82-42D5-3C43-DCF797C47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846" y="5869342"/>
            <a:ext cx="946115" cy="84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5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C0520-CA6D-165C-9954-1391ED48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FC7267-1F1F-C30A-C834-E123BB86F7B2}"/>
              </a:ext>
            </a:extLst>
          </p:cNvPr>
          <p:cNvSpPr txBox="1"/>
          <p:nvPr/>
        </p:nvSpPr>
        <p:spPr>
          <a:xfrm>
            <a:off x="250159" y="168151"/>
            <a:ext cx="7106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Calibri (Body)"/>
              </a:rPr>
              <a:t>AI Literacy Framework: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883F34-C647-2359-96AA-4E5C177E3027}"/>
              </a:ext>
            </a:extLst>
          </p:cNvPr>
          <p:cNvSpPr txBox="1"/>
          <p:nvPr/>
        </p:nvSpPr>
        <p:spPr>
          <a:xfrm>
            <a:off x="4755799" y="1094151"/>
            <a:ext cx="1414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 (Body)"/>
              </a:rPr>
              <a:t>Technical</a:t>
            </a:r>
            <a:endParaRPr lang="en-US" b="1" dirty="0">
              <a:solidFill>
                <a:schemeClr val="bg1"/>
              </a:solidFill>
              <a:latin typeface="Calibri (Body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05B8D3-D332-ED3E-9B42-BC08A0078A56}"/>
              </a:ext>
            </a:extLst>
          </p:cNvPr>
          <p:cNvSpPr txBox="1"/>
          <p:nvPr/>
        </p:nvSpPr>
        <p:spPr>
          <a:xfrm>
            <a:off x="8745414" y="1155312"/>
            <a:ext cx="1992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 (Body)"/>
              </a:rPr>
              <a:t>Informational</a:t>
            </a:r>
            <a:endParaRPr lang="en-US" b="1" dirty="0">
              <a:solidFill>
                <a:schemeClr val="bg1"/>
              </a:solidFill>
              <a:latin typeface="Calibri (Body)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6AAF29-533A-90F7-5CE4-EF3D35FCA5B8}"/>
              </a:ext>
            </a:extLst>
          </p:cNvPr>
          <p:cNvSpPr/>
          <p:nvPr/>
        </p:nvSpPr>
        <p:spPr>
          <a:xfrm>
            <a:off x="3411415" y="2217708"/>
            <a:ext cx="4114800" cy="609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Consider model limitations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944454-4DE8-2763-DD9B-87D4D9F18529}"/>
              </a:ext>
            </a:extLst>
          </p:cNvPr>
          <p:cNvSpPr/>
          <p:nvPr/>
        </p:nvSpPr>
        <p:spPr>
          <a:xfrm>
            <a:off x="3411414" y="1646285"/>
            <a:ext cx="4114801" cy="57443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Model Design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54C57F-2EE8-2B50-805B-3DB9E255DB4C}"/>
              </a:ext>
            </a:extLst>
          </p:cNvPr>
          <p:cNvSpPr/>
          <p:nvPr/>
        </p:nvSpPr>
        <p:spPr>
          <a:xfrm>
            <a:off x="7690337" y="1646286"/>
            <a:ext cx="4114800" cy="57443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Accuracy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080CC5-0EDB-87B0-F20D-2BBE33987165}"/>
              </a:ext>
            </a:extLst>
          </p:cNvPr>
          <p:cNvSpPr/>
          <p:nvPr/>
        </p:nvSpPr>
        <p:spPr>
          <a:xfrm>
            <a:off x="7690337" y="2220717"/>
            <a:ext cx="4114800" cy="60960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Evaluate accuracy of model output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B8FC3E-8C86-0119-314C-3377762D6951}"/>
              </a:ext>
            </a:extLst>
          </p:cNvPr>
          <p:cNvSpPr/>
          <p:nvPr/>
        </p:nvSpPr>
        <p:spPr>
          <a:xfrm>
            <a:off x="3411414" y="2970490"/>
            <a:ext cx="4114800" cy="57443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Model Functionality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A47E37-79F7-FCEE-1AEC-B1B6D7D0A55A}"/>
              </a:ext>
            </a:extLst>
          </p:cNvPr>
          <p:cNvSpPr/>
          <p:nvPr/>
        </p:nvSpPr>
        <p:spPr>
          <a:xfrm>
            <a:off x="3411414" y="3533655"/>
            <a:ext cx="4114800" cy="574432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100" dirty="0">
                <a:solidFill>
                  <a:schemeClr val="bg1"/>
                </a:solidFill>
              </a:rPr>
              <a:t>Discover model features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B666AD-21A6-DD54-F48C-DEF232C5EDC4}"/>
              </a:ext>
            </a:extLst>
          </p:cNvPr>
          <p:cNvSpPr/>
          <p:nvPr/>
        </p:nvSpPr>
        <p:spPr>
          <a:xfrm>
            <a:off x="7684475" y="2963436"/>
            <a:ext cx="4114800" cy="57443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Discipline/Field Relevance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8A63992-F8FF-92E7-6878-5389D97B893D}"/>
              </a:ext>
            </a:extLst>
          </p:cNvPr>
          <p:cNvSpPr/>
          <p:nvPr/>
        </p:nvSpPr>
        <p:spPr>
          <a:xfrm>
            <a:off x="7690337" y="3533655"/>
            <a:ext cx="4114800" cy="565523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bg1"/>
                </a:solidFill>
              </a:rPr>
              <a:t>Disciplinary considerations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2B714B-CF2D-C462-60B0-C55EB3705E49}"/>
              </a:ext>
            </a:extLst>
          </p:cNvPr>
          <p:cNvSpPr/>
          <p:nvPr/>
        </p:nvSpPr>
        <p:spPr>
          <a:xfrm>
            <a:off x="3411414" y="4272163"/>
            <a:ext cx="4114800" cy="574431"/>
          </a:xfrm>
          <a:prstGeom prst="roundRect">
            <a:avLst/>
          </a:prstGeom>
          <a:solidFill>
            <a:srgbClr val="32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Privacy &amp; Trust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EBFFEA-FD17-DC7A-CC05-5F9786B8F3E0}"/>
              </a:ext>
            </a:extLst>
          </p:cNvPr>
          <p:cNvSpPr/>
          <p:nvPr/>
        </p:nvSpPr>
        <p:spPr>
          <a:xfrm>
            <a:off x="3411414" y="4846594"/>
            <a:ext cx="4114800" cy="52167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Evaluate impact of AI use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CE05F7D-EDC6-7C7C-471F-13EC7062A23E}"/>
              </a:ext>
            </a:extLst>
          </p:cNvPr>
          <p:cNvSpPr/>
          <p:nvPr/>
        </p:nvSpPr>
        <p:spPr>
          <a:xfrm>
            <a:off x="7684475" y="4272163"/>
            <a:ext cx="4114800" cy="574431"/>
          </a:xfrm>
          <a:prstGeom prst="roundRect">
            <a:avLst/>
          </a:prstGeom>
          <a:solidFill>
            <a:srgbClr val="47380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Authorship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F2135DB-F7A3-49B4-A875-D2DA2DF4DC1E}"/>
              </a:ext>
            </a:extLst>
          </p:cNvPr>
          <p:cNvSpPr/>
          <p:nvPr/>
        </p:nvSpPr>
        <p:spPr>
          <a:xfrm>
            <a:off x="7684475" y="4846594"/>
            <a:ext cx="4138245" cy="521677"/>
          </a:xfrm>
          <a:prstGeom prst="roundRect">
            <a:avLst/>
          </a:prstGeom>
          <a:solidFill>
            <a:srgbClr val="7F64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Determine human input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65AEF8-74CD-3D3B-0923-BC6711613772}"/>
              </a:ext>
            </a:extLst>
          </p:cNvPr>
          <p:cNvSpPr txBox="1"/>
          <p:nvPr/>
        </p:nvSpPr>
        <p:spPr>
          <a:xfrm>
            <a:off x="250159" y="4559378"/>
            <a:ext cx="2822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 (Body)"/>
              </a:rPr>
              <a:t>Scan for full handout</a:t>
            </a:r>
            <a:endParaRPr lang="en-US" b="1" dirty="0">
              <a:solidFill>
                <a:schemeClr val="bg1"/>
              </a:solidFill>
              <a:latin typeface="Calibri (Body)"/>
            </a:endParaRPr>
          </a:p>
        </p:txBody>
      </p:sp>
      <p:pic>
        <p:nvPicPr>
          <p:cNvPr id="33" name="Picture 32" descr="Slide by Matt Silk">
            <a:extLst>
              <a:ext uri="{FF2B5EF4-FFF2-40B4-BE49-F238E27FC236}">
                <a16:creationId xmlns:a16="http://schemas.microsoft.com/office/drawing/2014/main" id="{4246B25E-2E55-6C77-5DBC-61C459B97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676" y="5878936"/>
            <a:ext cx="946115" cy="846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AF6FF4-4BAF-2312-8E43-126CE7D1D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59" y="1635895"/>
            <a:ext cx="2822212" cy="282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AF1DE-BBC8-D933-14BD-3D3C6F68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A08579-C96C-6CFD-D9D6-387DB78A1879}"/>
              </a:ext>
            </a:extLst>
          </p:cNvPr>
          <p:cNvSpPr txBox="1"/>
          <p:nvPr/>
        </p:nvSpPr>
        <p:spPr>
          <a:xfrm>
            <a:off x="297052" y="305269"/>
            <a:ext cx="92571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 the Framework</a:t>
            </a:r>
            <a:endParaRPr lang="en-US" sz="6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B6BAC-2CD8-F284-6309-7831071F3ADB}"/>
              </a:ext>
            </a:extLst>
          </p:cNvPr>
          <p:cNvSpPr txBox="1"/>
          <p:nvPr/>
        </p:nvSpPr>
        <p:spPr>
          <a:xfrm>
            <a:off x="297052" y="1228599"/>
            <a:ext cx="3902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Authorship exercise </a:t>
            </a:r>
          </a:p>
        </p:txBody>
      </p:sp>
      <p:pic>
        <p:nvPicPr>
          <p:cNvPr id="11" name="Picture 10" descr="Slide by Matt Silk">
            <a:extLst>
              <a:ext uri="{FF2B5EF4-FFF2-40B4-BE49-F238E27FC236}">
                <a16:creationId xmlns:a16="http://schemas.microsoft.com/office/drawing/2014/main" id="{24F162C0-B92B-2EA8-8D2C-579CA99D7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123" y="5896340"/>
            <a:ext cx="946115" cy="8461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03A0D9-0609-7E4B-7CFD-D5A3EC5E6705}"/>
              </a:ext>
            </a:extLst>
          </p:cNvPr>
          <p:cNvSpPr txBox="1"/>
          <p:nvPr/>
        </p:nvSpPr>
        <p:spPr>
          <a:xfrm>
            <a:off x="297052" y="2329154"/>
            <a:ext cx="2740542" cy="260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US" sz="36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what ways am I retaining authorship of research?</a:t>
            </a:r>
            <a:endParaRPr lang="en-US" sz="4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51;p6">
            <a:extLst>
              <a:ext uri="{FF2B5EF4-FFF2-40B4-BE49-F238E27FC236}">
                <a16:creationId xmlns:a16="http://schemas.microsoft.com/office/drawing/2014/main" id="{7EEAE0E6-9351-5452-68E9-933D02FDDEEE}"/>
              </a:ext>
            </a:extLst>
          </p:cNvPr>
          <p:cNvSpPr/>
          <p:nvPr/>
        </p:nvSpPr>
        <p:spPr>
          <a:xfrm>
            <a:off x="3541125" y="2062425"/>
            <a:ext cx="7511700" cy="40827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using AI to assist with writing, create a log to track your ideas and intentions.</a:t>
            </a:r>
            <a:endParaRPr sz="2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■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my aim with this project?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■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ideas, arguments, or structure have I contributed independently?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■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have I used AI in this project and for what specific purposes (brainstorming, editing, outlining, etc.)?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■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parts of the work reflect my own understanding?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■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have I accepted AI suggestions without modification?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■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Could I explain and defend this work without AI assistance?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155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/>
          <p:nvPr/>
        </p:nvSpPr>
        <p:spPr>
          <a:xfrm>
            <a:off x="297052" y="305269"/>
            <a:ext cx="925714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From AI Anxiety to Clarity</a:t>
            </a:r>
            <a:endParaRPr kumimoji="0" sz="6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395724" y="1610625"/>
            <a:ext cx="51066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Our framework offers: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Char char="■"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Stakeholder understanding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Char char="■"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Clearer and more informed judgment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Char char="■"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Stronger Assignment Environments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Char char="■"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Healthier Learning Environments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8" descr="Slide by Ian MacDona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5896" y="6011875"/>
            <a:ext cx="946115" cy="84611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 txBox="1"/>
          <p:nvPr/>
        </p:nvSpPr>
        <p:spPr>
          <a:xfrm>
            <a:off x="6097324" y="1856913"/>
            <a:ext cx="51066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 response to confusion, uncertainty, and inconsistency, AI literacy should help educators respond with clarity, not panic.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4680</TotalTime>
  <Words>467</Words>
  <Application>Microsoft Office PowerPoint</Application>
  <PresentationFormat>Widescreen</PresentationFormat>
  <Paragraphs>102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(Body)</vt:lpstr>
      <vt:lpstr>Calibri Light</vt:lpstr>
      <vt:lpstr>Play</vt:lpstr>
      <vt:lpstr>Wingdings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Steven William Silk</dc:creator>
  <cp:lastModifiedBy>Matthew Steven William Silk</cp:lastModifiedBy>
  <cp:revision>14</cp:revision>
  <dcterms:created xsi:type="dcterms:W3CDTF">2026-03-05T18:58:39Z</dcterms:created>
  <dcterms:modified xsi:type="dcterms:W3CDTF">2026-04-25T22:00:56Z</dcterms:modified>
</cp:coreProperties>
</file>